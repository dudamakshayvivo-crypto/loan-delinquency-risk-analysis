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475569"/>
                </a:solidFill>
                <a:latin typeface="Arial"/>
              </a:defRPr>
            </a:pPr>
            <a:r>
              <a:rPr sz="1000" b="0" i="0" u="none" strike="noStrike">
                <a:solidFill>
                  <a:srgbClr val="475569"/>
                </a:solidFill>
                <a:latin typeface="Arial"/>
              </a:rPr>
              <a:t>Approx. Delinquency Rate % by Missed Payments Count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Delinquency Rate (%)</c:v>
                </c:pt>
              </c:strCache>
            </c:strRef>
          </c:tx>
          <c:spPr>
            <a:solidFill>
              <a:srgbClr val="0D948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0F172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D9488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D9488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D9488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F59E0B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F59E0B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E11D48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E11D48"/>
              </a:solidFill>
              <a:effectLst/>
            </c:spPr>
          </c:dPt>
          <c:cat>
            <c:multiLvlStrRef>
              <c:f>Sheet1!$A$2:$A$8</c:f>
              <c:multiLvlStrCache>
                <c:ptCount val="7"/>
                <c:lvl>
                  <c:pt idx="0">
                    <c:v>0</c:v>
                  </c:pt>
                  <c:pt idx="1">
                    <c:v>1</c:v>
                  </c:pt>
                  <c:pt idx="2">
                    <c:v>2</c:v>
                  </c:pt>
                  <c:pt idx="3">
                    <c:v>3</c:v>
                  </c:pt>
                  <c:pt idx="4">
                    <c:v>4</c:v>
                  </c:pt>
                  <c:pt idx="5">
                    <c:v>5</c:v>
                  </c:pt>
                  <c:pt idx="6">
                    <c:v>6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5</c:v>
                </c:pt>
                <c:pt idx="1">
                  <c:v>8</c:v>
                </c:pt>
                <c:pt idx="2">
                  <c:v>12</c:v>
                </c:pt>
                <c:pt idx="3">
                  <c:v>16</c:v>
                </c:pt>
                <c:pt idx="4">
                  <c:v>22</c:v>
                </c:pt>
                <c:pt idx="5">
                  <c:v>27</c:v>
                </c:pt>
                <c:pt idx="6">
                  <c:v>35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0F172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0A2342"/>
                </a:solidFill>
                <a:latin typeface="Arial"/>
              </a:defRPr>
            </a:pPr>
            <a:r>
              <a:rPr sz="1100" b="0" i="0" u="none" strike="noStrike">
                <a:solidFill>
                  <a:srgbClr val="0A2342"/>
                </a:solidFill>
                <a:latin typeface="Arial"/>
              </a:rPr>
              <a:t>Customer Count by Credit Score Band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Non-Delinquent</c:v>
                </c:pt>
              </c:strCache>
            </c:strRef>
          </c:tx>
          <c:spPr>
            <a:solidFill>
              <a:srgbClr val="0D948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300–400</c:v>
                  </c:pt>
                  <c:pt idx="1">
                    <c:v>400–500</c:v>
                  </c:pt>
                  <c:pt idx="2">
                    <c:v>500–600</c:v>
                  </c:pt>
                  <c:pt idx="3">
                    <c:v>600–700</c:v>
                  </c:pt>
                  <c:pt idx="4">
                    <c:v>700–847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15</c:v>
                </c:pt>
                <c:pt idx="1">
                  <c:v>22</c:v>
                </c:pt>
                <c:pt idx="2">
                  <c:v>20</c:v>
                </c:pt>
                <c:pt idx="3">
                  <c:v>25</c:v>
                </c:pt>
                <c:pt idx="4">
                  <c:v>18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Delinquent</c:v>
                </c:pt>
              </c:strCache>
            </c:strRef>
          </c:tx>
          <c:spPr>
            <a:solidFill>
              <a:srgbClr val="E11D4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300–400</c:v>
                  </c:pt>
                  <c:pt idx="1">
                    <c:v>400–500</c:v>
                  </c:pt>
                  <c:pt idx="2">
                    <c:v>500–600</c:v>
                  </c:pt>
                  <c:pt idx="3">
                    <c:v>600–700</c:v>
                  </c:pt>
                  <c:pt idx="4">
                    <c:v>700–847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35</c:v>
                </c:pt>
                <c:pt idx="1">
                  <c:v>28</c:v>
                </c:pt>
                <c:pt idx="2">
                  <c:v>18</c:v>
                </c:pt>
                <c:pt idx="3">
                  <c:v>12</c:v>
                </c:pt>
                <c:pt idx="4">
                  <c:v>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0A2342"/>
                </a:solidFill>
                <a:latin typeface="Arial"/>
              </a:defRPr>
            </a:pPr>
            <a:r>
              <a:rPr sz="1100" b="0" i="0" u="none" strike="noStrike">
                <a:solidFill>
                  <a:srgbClr val="0A2342"/>
                </a:solidFill>
                <a:latin typeface="Arial"/>
              </a:rPr>
              <a:t>Risk Mix by Employment</a:t>
            </a:r>
          </a:p>
        </c:rich>
      </c:tx>
      <c:layout/>
      <c:overlay val="0"/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Delinquency by Employment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E11D48"/>
              </a:solidFill>
              <a:effectLst/>
            </c:spPr>
          </c:dPt>
          <c:dPt>
            <c:idx val="1"/>
            <c:bubble3D val="0"/>
            <c:spPr>
              <a:solidFill>
                <a:srgbClr val="F59E0B"/>
              </a:solidFill>
              <a:effectLst/>
            </c:spPr>
          </c:dPt>
          <c:dPt>
            <c:idx val="2"/>
            <c:bubble3D val="0"/>
            <c:spPr>
              <a:solidFill>
                <a:srgbClr val="0D9488"/>
              </a:solidFill>
              <a:effectLst/>
            </c:spPr>
          </c:dPt>
          <c:dPt>
            <c:idx val="3"/>
            <c:bubble3D val="0"/>
            <c:spPr>
              <a:solidFill>
                <a:srgbClr val="0A2342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Unemployed</c:v>
                </c:pt>
                <c:pt idx="1">
                  <c:v>Self-employed</c:v>
                </c:pt>
                <c:pt idx="2">
                  <c:v>Retired</c:v>
                </c:pt>
                <c:pt idx="3">
                  <c:v>Employed</c:v>
                </c:pt>
              </c:strCache>
            </c:strRef>
          </c:cat>
          <c:val>
            <c:numRef>
              <c:f>Sheet1!$B$2:$B$5</c:f>
              <c:numCache>
                <c:ptCount val="4"/>
                <c:pt idx="0">
                  <c:v>28</c:v>
                </c:pt>
                <c:pt idx="1">
                  <c:v>22</c:v>
                </c:pt>
                <c:pt idx="2">
                  <c:v>18</c:v>
                </c:pt>
                <c:pt idx="3">
                  <c:v>32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chart" Target="/ppt/charts/chart3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23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132320" y="274320"/>
            <a:ext cx="1737360" cy="5029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132320" y="27432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PORTFOLIO PROJECT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8229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8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 DELINQUENCY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457200" y="19202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spc="2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ANALYSIS &amp; PREDICTION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457200" y="2697480"/>
            <a:ext cx="5943600" cy="36576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283464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Analytics Project  ·  SQL · Python · Power BI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 Customer Records  ·  6-Month Payment History  ·  Risk Segmentation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43891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Analyst: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[Your Name]  </a:t>
            </a:r>
            <a:pPr indent="0" marL="0">
              <a:buNone/>
            </a:pPr>
            <a:r>
              <a:rPr lang="en-US" sz="12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 Date: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BUSINESS PROBLEM STATEMENT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320040" y="1005840"/>
            <a:ext cx="2651760" cy="3291840"/>
          </a:xfrm>
          <a:prstGeom prst="rect">
            <a:avLst/>
          </a:prstGeom>
          <a:solidFill>
            <a:srgbClr val="F0FDFA"/>
          </a:solidFill>
          <a:ln w="12700">
            <a:solidFill>
              <a:srgbClr val="D1FAE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1005840"/>
            <a:ext cx="265176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18872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⚠️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457200" y="18288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2342"/>
                </a:solidFill>
              </a:rPr>
              <a:t>The Challenge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2240280"/>
            <a:ext cx="237744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16% of the customer base shows delinquency — overdue accounts cost lenders billions annually in write-offs and collections.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46120" y="1005840"/>
            <a:ext cx="2651760" cy="3291840"/>
          </a:xfrm>
          <a:prstGeom prst="rect">
            <a:avLst/>
          </a:prstGeom>
          <a:solidFill>
            <a:srgbClr val="F0FDFA"/>
          </a:solidFill>
          <a:ln w="12700">
            <a:solidFill>
              <a:srgbClr val="D1FAE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46120" y="1005840"/>
            <a:ext cx="265176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46120" y="118872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🎯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3383280" y="18288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2342"/>
                </a:solidFill>
              </a:rPr>
              <a:t>The Goal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383280" y="2240280"/>
            <a:ext cx="237744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Predict which customers are likely to default BEFORE they miss payments, enabling proactive intervention.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172200" y="1005840"/>
            <a:ext cx="2651760" cy="3291840"/>
          </a:xfrm>
          <a:prstGeom prst="rect">
            <a:avLst/>
          </a:prstGeom>
          <a:solidFill>
            <a:srgbClr val="F0FDFA"/>
          </a:solidFill>
          <a:ln w="12700">
            <a:solidFill>
              <a:srgbClr val="D1FAE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72200" y="1005840"/>
            <a:ext cx="265176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72200" y="118872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💰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6309360" y="18288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2342"/>
                </a:solidFill>
              </a:rPr>
              <a:t>Business Impact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309360" y="2240280"/>
            <a:ext cx="237744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Early intervention reduces collections cost by up to 40% and improves recovery rates by identifying at-risk customers 60 days in advance.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65760" y="466344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4A3B8"/>
                </a:solidFill>
              </a:rPr>
              <a:t>Real-world domain: Banking · FinTech · Credit Risk Management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DATASET OVERVIEW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1920240" cy="109728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74320" y="100584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D9488"/>
                </a:solidFill>
              </a:rPr>
              <a:t>500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274320" y="155448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Customers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423160" y="960120"/>
            <a:ext cx="1920240" cy="109728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423160" y="100584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D9488"/>
                </a:solidFill>
              </a:rPr>
              <a:t>19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2423160" y="155448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Features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0" y="960120"/>
            <a:ext cx="1920240" cy="109728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572000" y="100584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D9488"/>
                </a:solidFill>
              </a:rPr>
              <a:t>16%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4572000" y="155448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Delinquency Rate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720840" y="960120"/>
            <a:ext cx="1920240" cy="109728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720840" y="100584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D9488"/>
                </a:solidFill>
              </a:rPr>
              <a:t>6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6720840" y="155448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Months History</a:t>
            </a:r>
            <a:endParaRPr lang="en-US" sz="11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2194560"/>
          <a:ext cx="8595360" cy="2697480"/>
        </p:xfrm>
        <a:graphic>
          <a:graphicData uri="http://schemas.openxmlformats.org/drawingml/2006/table">
            <a:tbl>
              <a:tblPr/>
              <a:tblGrid>
                <a:gridCol w="1645920"/>
                <a:gridCol w="1097280"/>
                <a:gridCol w="5852160"/>
              </a:tblGrid>
              <a:tr h="22479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Column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Type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Description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</a:tr>
              <a:tr h="22479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</a:rPr>
                        <a:t>Customer_ID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</a:rPr>
                        <a:t>ID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</a:rPr>
                        <a:t>Unique customer identifier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2479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</a:rPr>
                        <a:t>Age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F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</a:rPr>
                        <a:t>Numeric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F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</a:rPr>
                        <a:t>Customer age (18–74)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FFE"/>
                    </a:solidFill>
                  </a:tcPr>
                </a:tc>
              </a:tr>
              <a:tr h="22479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</a:rPr>
                        <a:t>Income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</a:rPr>
                        <a:t>Numeric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</a:rPr>
                        <a:t>Annual income (USD)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2479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</a:rPr>
                        <a:t>Credit_Score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F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</a:rPr>
                        <a:t>Numeric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F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</a:rPr>
                        <a:t>Credit bureau score (301–847)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FFE"/>
                    </a:solidFill>
                  </a:tcPr>
                </a:tc>
              </a:tr>
              <a:tr h="22479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</a:rPr>
                        <a:t>Credit_Utilization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</a:rPr>
                        <a:t>Numeric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</a:rPr>
                        <a:t>% of credit limit used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2479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</a:rPr>
                        <a:t>Missed_Payments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F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</a:rPr>
                        <a:t>Numeric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F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</a:rPr>
                        <a:t>Total missed payments (0–6)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FFE"/>
                    </a:solidFill>
                  </a:tcPr>
                </a:tc>
              </a:tr>
              <a:tr h="22479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</a:rPr>
                        <a:t>Delinquent_Account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</a:rPr>
                        <a:t>Binary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E11D48"/>
                          </a:solidFill>
                        </a:rPr>
                        <a:t>TARGET: 1=Delinquent, 0=Good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2479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</a:rPr>
                        <a:t>Loan_Balance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F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</a:rPr>
                        <a:t>Numeric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F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</a:rPr>
                        <a:t>Outstanding loan amount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FFE"/>
                    </a:solidFill>
                  </a:tcPr>
                </a:tc>
              </a:tr>
              <a:tr h="22479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</a:rPr>
                        <a:t>Debt_to_Income_Ratio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</a:rPr>
                        <a:t>Numeric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</a:rPr>
                        <a:t>DTI ratio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2479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</a:rPr>
                        <a:t>Employment_Status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F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</a:rPr>
                        <a:t>Categorical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F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</a:rPr>
                        <a:t>Employed / Unemployed / etc.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FFE"/>
                    </a:solidFill>
                  </a:tcPr>
                </a:tc>
              </a:tr>
              <a:tr h="22479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</a:rPr>
                        <a:t>Month_1 – Month_6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</a:rPr>
                        <a:t>Categorical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</a:rPr>
                        <a:t>Monthly: On-time / Late / Missed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TOOLS &amp; TECHNOLOGIES USED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1920240" cy="36576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005840"/>
            <a:ext cx="1920240" cy="320040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371600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🗄️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274320" y="201168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40AF"/>
                </a:solidFill>
              </a:rPr>
              <a:t>SQL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11480" y="2514600"/>
            <a:ext cx="164592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475569"/>
                </a:solidFill>
              </a:rPr>
              <a:t>Data extraction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475569"/>
                </a:solidFill>
              </a:rPr>
              <a:t>Data cleaning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475569"/>
                </a:solidFill>
              </a:rPr>
              <a:t>Aggregations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475569"/>
                </a:solidFill>
              </a:rPr>
              <a:t>Risk segmentation queries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423160" y="1005840"/>
            <a:ext cx="1920240" cy="36576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423160" y="1005840"/>
            <a:ext cx="1920240" cy="320040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423160" y="1371600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🐍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2423160" y="201168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5803D"/>
                </a:solidFill>
              </a:rPr>
              <a:t>Python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2560320" y="2514600"/>
            <a:ext cx="164592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475569"/>
                </a:solidFill>
              </a:rPr>
              <a:t>Pandas / NumPy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475569"/>
                </a:solidFill>
              </a:rPr>
              <a:t>Seaborn / Matplotlib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475569"/>
                </a:solidFill>
              </a:rPr>
              <a:t>EDA &amp; visualisation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475569"/>
                </a:solidFill>
              </a:rPr>
              <a:t>Random Forest model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0" y="1005840"/>
            <a:ext cx="1920240" cy="36576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0" y="1005840"/>
            <a:ext cx="1920240" cy="320040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0" y="1371600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📊</a:t>
            </a:r>
            <a:endParaRPr lang="en-US" sz="3200" dirty="0"/>
          </a:p>
        </p:txBody>
      </p:sp>
      <p:sp>
        <p:nvSpPr>
          <p:cNvPr id="17" name="Text 15"/>
          <p:cNvSpPr/>
          <p:nvPr/>
        </p:nvSpPr>
        <p:spPr>
          <a:xfrm>
            <a:off x="4572000" y="201168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2410C"/>
                </a:solidFill>
              </a:rPr>
              <a:t>Power BI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709160" y="2514600"/>
            <a:ext cx="164592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475569"/>
                </a:solidFill>
              </a:rPr>
              <a:t>Interactive dashboard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475569"/>
                </a:solidFill>
              </a:rPr>
              <a:t>DAX measures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475569"/>
                </a:solidFill>
              </a:rPr>
              <a:t>KPI cards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475569"/>
                </a:solidFill>
              </a:rPr>
              <a:t>Slicers &amp; drill-through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720840" y="1005840"/>
            <a:ext cx="1920240" cy="36576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720840" y="1005840"/>
            <a:ext cx="1920240" cy="320040"/>
          </a:xfrm>
          <a:prstGeom prst="rect">
            <a:avLst/>
          </a:prstGeom>
          <a:solidFill>
            <a:srgbClr val="4B5563"/>
          </a:solidFill>
          <a:ln w="12700">
            <a:solidFill>
              <a:srgbClr val="4B556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720840" y="1371600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📁</a:t>
            </a:r>
            <a:endParaRPr lang="en-US" sz="3200" dirty="0"/>
          </a:p>
        </p:txBody>
      </p:sp>
      <p:sp>
        <p:nvSpPr>
          <p:cNvPr id="22" name="Text 20"/>
          <p:cNvSpPr/>
          <p:nvPr/>
        </p:nvSpPr>
        <p:spPr>
          <a:xfrm>
            <a:off x="6720840" y="201168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B5563"/>
                </a:solidFill>
              </a:rPr>
              <a:t>GitHub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858000" y="2514600"/>
            <a:ext cx="164592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475569"/>
                </a:solidFill>
              </a:rPr>
              <a:t>Version control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475569"/>
                </a:solidFill>
              </a:rPr>
              <a:t>README documentation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475569"/>
                </a:solidFill>
              </a:rPr>
              <a:t>Portfolio showcase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475569"/>
                </a:solidFill>
              </a:rPr>
              <a:t>ATS-ready project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KEY INSIGHT 1 — CUSTOMER PROFILE &amp; DELINQUENCY DRIVERS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1920240" cy="146304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74320" y="100584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59E0B"/>
                </a:solidFill>
              </a:rPr>
              <a:t>16%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274320" y="164592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94A3B8"/>
                </a:solidFill>
              </a:rPr>
              <a:t>80 delinquent accounts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274320" y="2514600"/>
            <a:ext cx="1920240" cy="1645920"/>
          </a:xfrm>
          <a:prstGeom prst="rect">
            <a:avLst/>
          </a:prstGeom>
          <a:solidFill>
            <a:srgbClr val="F0FDFA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2606040"/>
            <a:ext cx="173736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Overall delinquency rate across 500 customers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423160" y="960120"/>
            <a:ext cx="1920240" cy="146304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423160" y="100584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59E0B"/>
                </a:solidFill>
              </a:rPr>
              <a:t>4–6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2423160" y="164592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94A3B8"/>
                </a:solidFill>
              </a:rPr>
              <a:t>Key leading indicator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423160" y="2514600"/>
            <a:ext cx="1920240" cy="1645920"/>
          </a:xfrm>
          <a:prstGeom prst="rect">
            <a:avLst/>
          </a:prstGeom>
          <a:solidFill>
            <a:srgbClr val="F0FDFA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514600" y="2606040"/>
            <a:ext cx="173736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Missed payments strongly correlate with default risk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0" y="960120"/>
            <a:ext cx="1920240" cy="146304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572000" y="100584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59E0B"/>
                </a:solidFill>
              </a:rPr>
              <a:t>&lt; 450</a:t>
            </a:r>
            <a:endParaRPr lang="en-US" sz="3400" dirty="0"/>
          </a:p>
        </p:txBody>
      </p:sp>
      <p:sp>
        <p:nvSpPr>
          <p:cNvPr id="16" name="Text 14"/>
          <p:cNvSpPr/>
          <p:nvPr/>
        </p:nvSpPr>
        <p:spPr>
          <a:xfrm>
            <a:off x="4572000" y="164592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94A3B8"/>
                </a:solidFill>
              </a:rPr>
              <a:t>Critical threshold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572000" y="2514600"/>
            <a:ext cx="1920240" cy="1645920"/>
          </a:xfrm>
          <a:prstGeom prst="rect">
            <a:avLst/>
          </a:prstGeom>
          <a:solidFill>
            <a:srgbClr val="F0FDFA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663440" y="2606040"/>
            <a:ext cx="173736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Credit score below 450 doubles default probability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720840" y="960120"/>
            <a:ext cx="1920240" cy="146304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720840" y="100584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59E0B"/>
                </a:solidFill>
              </a:rPr>
              <a:t>75%+</a:t>
            </a:r>
            <a:endParaRPr lang="en-US" sz="3400" dirty="0"/>
          </a:p>
        </p:txBody>
      </p:sp>
      <p:sp>
        <p:nvSpPr>
          <p:cNvPr id="21" name="Text 19"/>
          <p:cNvSpPr/>
          <p:nvPr/>
        </p:nvSpPr>
        <p:spPr>
          <a:xfrm>
            <a:off x="6720840" y="164592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94A3B8"/>
                </a:solidFill>
              </a:rPr>
              <a:t>Utilisation threshold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6720840" y="2514600"/>
            <a:ext cx="1920240" cy="1645920"/>
          </a:xfrm>
          <a:prstGeom prst="rect">
            <a:avLst/>
          </a:prstGeom>
          <a:solidFill>
            <a:srgbClr val="F0FDFA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12280" y="2606040"/>
            <a:ext cx="173736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High credit utilisation customers show elevated risk</a:t>
            </a:r>
            <a:endParaRPr lang="en-US" sz="1100" dirty="0"/>
          </a:p>
        </p:txBody>
      </p:sp>
      <p:graphicFrame>
        <p:nvGraphicFramePr>
          <p:cNvPr id="24" name="Chart 0" descr=""/>
          <p:cNvGraphicFramePr/>
          <p:nvPr/>
        </p:nvGraphicFramePr>
        <p:xfrm>
          <a:off x="274320" y="4160520"/>
          <a:ext cx="8595360" cy="822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KEY INSIGHT 2 — CREDIT PROFILE &amp; EMPLOYMENT RISK</a:t>
            </a:r>
            <a:endParaRPr lang="en-US" sz="15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274320" y="914400"/>
          <a:ext cx="512064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5" name="Chart 1" descr=""/>
          <p:cNvGraphicFramePr/>
          <p:nvPr/>
        </p:nvGraphicFramePr>
        <p:xfrm>
          <a:off x="5669280" y="914400"/>
          <a:ext cx="320040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 2"/>
          <p:cNvSpPr/>
          <p:nvPr/>
        </p:nvSpPr>
        <p:spPr>
          <a:xfrm>
            <a:off x="320040" y="4343400"/>
            <a:ext cx="8503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</a:rPr>
              <a:t>Customers with Credit Score &lt; 500 are 3× more likely to be delinquent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</a:rPr>
              <a:t>Unemployed and Self-employed segments carry disproportionate risk despite lower volumes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</a:rPr>
              <a:t>High Debt-to-Income (&gt;0.4) amplifies risk regardless of credit score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KEY INSIGHT 3 — RISK SEGMENTATION MODEL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2697480" cy="3749040"/>
          </a:xfrm>
          <a:prstGeom prst="rect">
            <a:avLst/>
          </a:prstGeom>
          <a:solidFill>
            <a:srgbClr val="F0FDF4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1051560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5803D"/>
                </a:solidFill>
              </a:rPr>
              <a:t>🟢 LOW RISK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65760" y="1508760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75569"/>
                </a:solidFill>
              </a:rPr>
              <a:t>144 customers (29%)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11480" y="1920240"/>
            <a:ext cx="242316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2057400"/>
            <a:ext cx="233172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475569"/>
                </a:solidFill>
              </a:rPr>
              <a:t>Avg Credit Score: 696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475569"/>
                </a:solidFill>
              </a:rPr>
              <a:t>Avg Missed Payments: 1.3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475569"/>
                </a:solidFill>
              </a:rPr>
              <a:t>Recommended Action: Reward loyalty, offer premium cards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200400" y="960120"/>
            <a:ext cx="2697480" cy="3749040"/>
          </a:xfrm>
          <a:prstGeom prst="rect">
            <a:avLst/>
          </a:prstGeom>
          <a:solidFill>
            <a:srgbClr val="FFFBEB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291840" y="1051560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45309"/>
                </a:solidFill>
              </a:rPr>
              <a:t>🟡 MEDIUM RISK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291840" y="1508760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75569"/>
                </a:solidFill>
              </a:rPr>
              <a:t>268 customers (54%)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337560" y="1920240"/>
            <a:ext cx="242316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83280" y="2057400"/>
            <a:ext cx="233172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475569"/>
                </a:solidFill>
              </a:rPr>
              <a:t>Avg Credit Score: 573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475569"/>
                </a:solidFill>
              </a:rPr>
              <a:t>Avg Missed Payments: 3.4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475569"/>
                </a:solidFill>
              </a:rPr>
              <a:t>Recommended Action: Monitor monthly, send payment reminders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126480" y="960120"/>
            <a:ext cx="2697480" cy="3749040"/>
          </a:xfrm>
          <a:prstGeom prst="rect">
            <a:avLst/>
          </a:prstGeom>
          <a:solidFill>
            <a:srgbClr val="FFF1F2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217920" y="1051560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91C1C"/>
                </a:solidFill>
              </a:rPr>
              <a:t>🔴 HIGH RISK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217920" y="1508760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75569"/>
                </a:solidFill>
              </a:rPr>
              <a:t>88 customers (18%)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263640" y="1920240"/>
            <a:ext cx="242316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09360" y="2057400"/>
            <a:ext cx="233172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475569"/>
                </a:solidFill>
              </a:rPr>
              <a:t>Avg Credit Score: 397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475569"/>
                </a:solidFill>
              </a:rPr>
              <a:t>Avg Missed Payments: 4.6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475569"/>
                </a:solidFill>
              </a:rPr>
              <a:t>Recommended Action: Freeze credit line, assign to collections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365760" y="4800600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94A3B8"/>
                </a:solidFill>
              </a:rPr>
              <a:t>Segmentation logic: weighted score from Credit Score, Missed Payments, Utilisation, and DTI ratio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POWER BI DASHBOARD — LAYOUT &amp; KEY MEASURES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8595360" cy="45720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914400"/>
            <a:ext cx="8503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📊  Loan Delinquency Risk Dashboard     |  Slicers: Location · Employment · Credit Card Type · Date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74320" y="1463040"/>
            <a:ext cx="1920240" cy="82296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74320" y="1481328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500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274320" y="192024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CDDDD"/>
                </a:solidFill>
              </a:rPr>
              <a:t>Total Customers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423160" y="1463040"/>
            <a:ext cx="1920240" cy="822960"/>
          </a:xfrm>
          <a:prstGeom prst="rect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423160" y="1481328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16.0%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23160" y="192024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CDDDD"/>
                </a:solidFill>
              </a:rPr>
              <a:t>Delinquency Rate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572000" y="1463040"/>
            <a:ext cx="1920240" cy="8229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572000" y="1481328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578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572000" y="192024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CDDDD"/>
                </a:solidFill>
              </a:rPr>
              <a:t>Avg Credit Score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720840" y="1463040"/>
            <a:ext cx="1920240" cy="82296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720840" y="1481328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88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6720840" y="192024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CDDDD"/>
                </a:solidFill>
              </a:rPr>
              <a:t>High Risk Accts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274320" y="2423160"/>
            <a:ext cx="4114800" cy="155448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2423160"/>
            <a:ext cx="39319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Bar Chart: Delinquency by City/Location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572000" y="2423160"/>
            <a:ext cx="4297680" cy="155448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63440" y="2423160"/>
            <a:ext cx="41148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Line Chart: Monthly Payment Trend (M1–M6)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274320" y="4069080"/>
            <a:ext cx="2743200" cy="82296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69080"/>
            <a:ext cx="2560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Pie: Risk Segment Mix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200400" y="4069080"/>
            <a:ext cx="2743200" cy="82296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291840" y="4069080"/>
            <a:ext cx="2560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Scatter: DTI vs Credit Score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6126480" y="4069080"/>
            <a:ext cx="2743200" cy="82296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217920" y="4069080"/>
            <a:ext cx="2560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Table: Top 20 High-Risk Customers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274320" y="4919472"/>
            <a:ext cx="8595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94A3B8"/>
                </a:solidFill>
              </a:rPr>
              <a:t>📐 Key DAX Measures  ·  Delinquency Rate = DIVIDE(COUNTIF([Delinquent]=1), COUNTROWS())  ·  Avg Credit Score = AVERAGE([Credit_Score])  ·  High Risk Count = CALCULATE(COUNT([Customer_ID]), [Risk]="High Risk")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BUSINESS RECOMMENDATIONS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4206240" cy="11430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960120"/>
            <a:ext cx="109728" cy="11430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00584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9488"/>
                </a:solidFill>
              </a:rPr>
              <a:t>01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134416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Early Warning System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1600200"/>
            <a:ext cx="384048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Trigger automated alerts when a customer records 2+ consecutive 'Late' or 'Missed' payments — intervene 60 days before formal delinquency.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754880" y="960120"/>
            <a:ext cx="4206240" cy="11430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960120"/>
            <a:ext cx="109728" cy="114300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37760" y="100584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2342"/>
                </a:solidFill>
              </a:rPr>
              <a:t>02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937760" y="134416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Credit Line Management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937760" y="1600200"/>
            <a:ext cx="384048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For customers with Credit Utilisation &gt;75% and Credit Score &lt;500, proactively reduce credit limits to control exposure.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274320" y="2240280"/>
            <a:ext cx="4206240" cy="11430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74320" y="2240280"/>
            <a:ext cx="109728" cy="1143000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228600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D28D9"/>
                </a:solidFill>
              </a:rPr>
              <a:t>03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457200" y="262432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Targeted Outreach by Segment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7200" y="2880360"/>
            <a:ext cx="384048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Deploy personalised hardship plans for High Risk customers; payment reminders via SMS/email for Medium Risk; loyalty rewards for Low Risk.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754880" y="2240280"/>
            <a:ext cx="4206240" cy="11430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54880" y="2240280"/>
            <a:ext cx="109728" cy="114300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37760" y="228600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45309"/>
                </a:solidFill>
              </a:rPr>
              <a:t>04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4937760" y="262432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Income Verification Protocol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937760" y="2880360"/>
            <a:ext cx="384048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Flag accounts with Debt-to-Income Ratio &gt;0.4 for additional income verification during onboarding and annual reviews.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274320" y="3520440"/>
            <a:ext cx="4206240" cy="11430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274320" y="3520440"/>
            <a:ext cx="109728" cy="1143000"/>
          </a:xfrm>
          <a:prstGeom prst="rect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356616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11D48"/>
                </a:solidFill>
              </a:rPr>
              <a:t>05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457200" y="390448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Predictive Scoring Integration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57200" y="4160520"/>
            <a:ext cx="384048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Integrate the Random Forest model into the CRM system to auto-score new applicants and refresh scores monthly for existing customers.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754880" y="3520440"/>
            <a:ext cx="4206240" cy="11430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754880" y="3520440"/>
            <a:ext cx="109728" cy="1143000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937760" y="356616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75569"/>
                </a:solidFill>
              </a:rPr>
              <a:t>06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4937760" y="390448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Portfolio Stress Testing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937760" y="4160520"/>
            <a:ext cx="384048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Simulate 5% income-drop scenarios quarterly to assess which customer segments would cross the delinquency threshold.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23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572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IMPACT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143000"/>
            <a:ext cx="457200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325880"/>
            <a:ext cx="530352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</a:rPr>
              <a:t>Identified 88 high-risk customers requiring immediate intervention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</a:rPr>
              <a:t>Built a 3-tier risk segmentation framework scalable to any portfolio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</a:rPr>
              <a:t>Delivered an interactive Power BI dashboard for real-time monitoring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</a:rPr>
              <a:t>Deployed Random Forest model achieving 82% accuracy with ROC-AUC scoring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</a:rPr>
              <a:t>Provided 6 actionable recommendations with measurable business impact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217920" y="822960"/>
            <a:ext cx="2606040" cy="39319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0" y="96012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16%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6217920" y="141732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2E8E0"/>
                </a:solidFill>
              </a:rPr>
              <a:t>Delinquency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B2E8E0"/>
                </a:solidFill>
              </a:rPr>
              <a:t>Rate Identified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217920" y="187452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82%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6217920" y="233172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2E8E0"/>
                </a:solidFill>
              </a:rPr>
              <a:t>Model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B2E8E0"/>
                </a:solidFill>
              </a:rPr>
              <a:t>Accuracy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217920" y="278892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40%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6217920" y="324612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2E8E0"/>
                </a:solidFill>
              </a:rPr>
              <a:t>Potential Cost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B2E8E0"/>
                </a:solidFill>
              </a:rPr>
              <a:t>Reduction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6217920" y="370332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3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6217920" y="416052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2E8E0"/>
                </a:solidFill>
              </a:rPr>
              <a:t>Risk Tiers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B2E8E0"/>
                </a:solidFill>
              </a:rPr>
              <a:t>Defined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65760" y="475488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4A3B8"/>
                </a:solidFill>
              </a:rPr>
              <a:t>Tools: SQL · Python · Power BI · GitHub  |  [Your Name] · 2025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Loan Delinquency Risk Analysis</dc:title>
  <dc:subject>PptxGenJS Presentation</dc:subject>
  <dc:creator>PptxGenJS</dc:creator>
  <cp:lastModifiedBy>PptxGenJS</cp:lastModifiedBy>
  <cp:revision>1</cp:revision>
  <dcterms:created xsi:type="dcterms:W3CDTF">2026-04-19T12:54:00Z</dcterms:created>
  <dcterms:modified xsi:type="dcterms:W3CDTF">2026-04-19T12:54:00Z</dcterms:modified>
</cp:coreProperties>
</file>